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256" r:id="rId2"/>
    <p:sldId id="386" r:id="rId3"/>
    <p:sldId id="387" r:id="rId4"/>
    <p:sldId id="388" r:id="rId5"/>
    <p:sldId id="389" r:id="rId6"/>
    <p:sldId id="390" r:id="rId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04D955-EEBA-43A9-9FC9-11845B63FA73}" v="182" dt="2025-11-11T16:35:23.0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655" autoAdjust="0"/>
    <p:restoredTop sz="91785" autoAdjust="0"/>
  </p:normalViewPr>
  <p:slideViewPr>
    <p:cSldViewPr snapToGrid="0" snapToObjects="1">
      <p:cViewPr varScale="1">
        <p:scale>
          <a:sx n="113" d="100"/>
          <a:sy n="113" d="100"/>
        </p:scale>
        <p:origin x="485" y="43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vind Krishna" userId="1da9ca94-ee30-4294-af17-4bf1db79f351" providerId="ADAL" clId="{5E04D955-EEBA-43A9-9FC9-11845B63FA73}"/>
    <pc:docChg chg="addSld delSld modSld sldOrd">
      <pc:chgData name="Arvind Krishna" userId="1da9ca94-ee30-4294-af17-4bf1db79f351" providerId="ADAL" clId="{5E04D955-EEBA-43A9-9FC9-11845B63FA73}" dt="2025-11-11T16:35:23.066" v="287" actId="20577"/>
      <pc:docMkLst>
        <pc:docMk/>
      </pc:docMkLst>
      <pc:sldChg chg="modSp mod">
        <pc:chgData name="Arvind Krishna" userId="1da9ca94-ee30-4294-af17-4bf1db79f351" providerId="ADAL" clId="{5E04D955-EEBA-43A9-9FC9-11845B63FA73}" dt="2025-11-11T16:34:18.422" v="206" actId="404"/>
        <pc:sldMkLst>
          <pc:docMk/>
          <pc:sldMk cId="4154333393" sldId="256"/>
        </pc:sldMkLst>
        <pc:spChg chg="mod">
          <ac:chgData name="Arvind Krishna" userId="1da9ca94-ee30-4294-af17-4bf1db79f351" providerId="ADAL" clId="{5E04D955-EEBA-43A9-9FC9-11845B63FA73}" dt="2025-11-11T16:34:18.422" v="206" actId="404"/>
          <ac:spMkLst>
            <pc:docMk/>
            <pc:sldMk cId="4154333393" sldId="256"/>
            <ac:spMk id="3" creationId="{00000000-0000-0000-0000-000000000000}"/>
          </ac:spMkLst>
        </pc:spChg>
      </pc:sldChg>
      <pc:sldChg chg="del">
        <pc:chgData name="Arvind Krishna" userId="1da9ca94-ee30-4294-af17-4bf1db79f351" providerId="ADAL" clId="{5E04D955-EEBA-43A9-9FC9-11845B63FA73}" dt="2025-11-11T16:28:13.115" v="22" actId="47"/>
        <pc:sldMkLst>
          <pc:docMk/>
          <pc:sldMk cId="2510462584" sldId="257"/>
        </pc:sldMkLst>
      </pc:sldChg>
      <pc:sldChg chg="del">
        <pc:chgData name="Arvind Krishna" userId="1da9ca94-ee30-4294-af17-4bf1db79f351" providerId="ADAL" clId="{5E04D955-EEBA-43A9-9FC9-11845B63FA73}" dt="2025-11-11T16:28:13.664" v="25" actId="47"/>
        <pc:sldMkLst>
          <pc:docMk/>
          <pc:sldMk cId="3402256720" sldId="266"/>
        </pc:sldMkLst>
      </pc:sldChg>
      <pc:sldChg chg="del">
        <pc:chgData name="Arvind Krishna" userId="1da9ca94-ee30-4294-af17-4bf1db79f351" providerId="ADAL" clId="{5E04D955-EEBA-43A9-9FC9-11845B63FA73}" dt="2025-11-11T16:28:13.508" v="24" actId="47"/>
        <pc:sldMkLst>
          <pc:docMk/>
          <pc:sldMk cId="700999386" sldId="270"/>
        </pc:sldMkLst>
      </pc:sldChg>
      <pc:sldChg chg="del">
        <pc:chgData name="Arvind Krishna" userId="1da9ca94-ee30-4294-af17-4bf1db79f351" providerId="ADAL" clId="{5E04D955-EEBA-43A9-9FC9-11845B63FA73}" dt="2025-11-11T16:28:07.343" v="11" actId="47"/>
        <pc:sldMkLst>
          <pc:docMk/>
          <pc:sldMk cId="3894900208" sldId="281"/>
        </pc:sldMkLst>
      </pc:sldChg>
      <pc:sldChg chg="del">
        <pc:chgData name="Arvind Krishna" userId="1da9ca94-ee30-4294-af17-4bf1db79f351" providerId="ADAL" clId="{5E04D955-EEBA-43A9-9FC9-11845B63FA73}" dt="2025-11-11T16:28:14.319" v="27" actId="47"/>
        <pc:sldMkLst>
          <pc:docMk/>
          <pc:sldMk cId="2739165319" sldId="284"/>
        </pc:sldMkLst>
      </pc:sldChg>
      <pc:sldChg chg="del">
        <pc:chgData name="Arvind Krishna" userId="1da9ca94-ee30-4294-af17-4bf1db79f351" providerId="ADAL" clId="{5E04D955-EEBA-43A9-9FC9-11845B63FA73}" dt="2025-11-11T16:28:21.563" v="34" actId="47"/>
        <pc:sldMkLst>
          <pc:docMk/>
          <pc:sldMk cId="1368417540" sldId="356"/>
        </pc:sldMkLst>
      </pc:sldChg>
      <pc:sldChg chg="del">
        <pc:chgData name="Arvind Krishna" userId="1da9ca94-ee30-4294-af17-4bf1db79f351" providerId="ADAL" clId="{5E04D955-EEBA-43A9-9FC9-11845B63FA73}" dt="2025-11-11T16:28:05.868" v="2" actId="47"/>
        <pc:sldMkLst>
          <pc:docMk/>
          <pc:sldMk cId="1288164533" sldId="359"/>
        </pc:sldMkLst>
      </pc:sldChg>
      <pc:sldChg chg="del">
        <pc:chgData name="Arvind Krishna" userId="1da9ca94-ee30-4294-af17-4bf1db79f351" providerId="ADAL" clId="{5E04D955-EEBA-43A9-9FC9-11845B63FA73}" dt="2025-11-11T16:28:05.710" v="1" actId="47"/>
        <pc:sldMkLst>
          <pc:docMk/>
          <pc:sldMk cId="854052994" sldId="384"/>
        </pc:sldMkLst>
      </pc:sldChg>
      <pc:sldChg chg="modSp del mod modAnim">
        <pc:chgData name="Arvind Krishna" userId="1da9ca94-ee30-4294-af17-4bf1db79f351" providerId="ADAL" clId="{5E04D955-EEBA-43A9-9FC9-11845B63FA73}" dt="2025-11-11T16:34:01.018" v="203" actId="47"/>
        <pc:sldMkLst>
          <pc:docMk/>
          <pc:sldMk cId="4172617316" sldId="385"/>
        </pc:sldMkLst>
        <pc:spChg chg="mod">
          <ac:chgData name="Arvind Krishna" userId="1da9ca94-ee30-4294-af17-4bf1db79f351" providerId="ADAL" clId="{5E04D955-EEBA-43A9-9FC9-11845B63FA73}" dt="2025-11-11T16:32:16.498" v="184" actId="20577"/>
          <ac:spMkLst>
            <pc:docMk/>
            <pc:sldMk cId="4172617316" sldId="385"/>
            <ac:spMk id="2" creationId="{567A805B-3FF4-B2BB-223C-A6EDB14245AE}"/>
          </ac:spMkLst>
        </pc:spChg>
        <pc:spChg chg="mod">
          <ac:chgData name="Arvind Krishna" userId="1da9ca94-ee30-4294-af17-4bf1db79f351" providerId="ADAL" clId="{5E04D955-EEBA-43A9-9FC9-11845B63FA73}" dt="2025-11-11T16:32:06.427" v="179"/>
          <ac:spMkLst>
            <pc:docMk/>
            <pc:sldMk cId="4172617316" sldId="385"/>
            <ac:spMk id="5" creationId="{4A23DD3C-D66D-451B-AE81-08CC275D03EF}"/>
          </ac:spMkLst>
        </pc:spChg>
      </pc:sldChg>
      <pc:sldChg chg="del">
        <pc:chgData name="Arvind Krishna" userId="1da9ca94-ee30-4294-af17-4bf1db79f351" providerId="ADAL" clId="{5E04D955-EEBA-43A9-9FC9-11845B63FA73}" dt="2025-11-11T16:28:06.156" v="4" actId="47"/>
        <pc:sldMkLst>
          <pc:docMk/>
          <pc:sldMk cId="1509786209" sldId="386"/>
        </pc:sldMkLst>
      </pc:sldChg>
      <pc:sldChg chg="modSp add mod ord modAnim">
        <pc:chgData name="Arvind Krishna" userId="1da9ca94-ee30-4294-af17-4bf1db79f351" providerId="ADAL" clId="{5E04D955-EEBA-43A9-9FC9-11845B63FA73}" dt="2025-11-11T16:35:23.066" v="287" actId="20577"/>
        <pc:sldMkLst>
          <pc:docMk/>
          <pc:sldMk cId="3884049008" sldId="386"/>
        </pc:sldMkLst>
        <pc:spChg chg="mod">
          <ac:chgData name="Arvind Krishna" userId="1da9ca94-ee30-4294-af17-4bf1db79f351" providerId="ADAL" clId="{5E04D955-EEBA-43A9-9FC9-11845B63FA73}" dt="2025-11-11T16:35:23.066" v="287" actId="20577"/>
          <ac:spMkLst>
            <pc:docMk/>
            <pc:sldMk cId="3884049008" sldId="386"/>
            <ac:spMk id="2" creationId="{B8622887-79AC-5960-96E8-C8DFCD593635}"/>
          </ac:spMkLst>
        </pc:spChg>
        <pc:spChg chg="mod">
          <ac:chgData name="Arvind Krishna" userId="1da9ca94-ee30-4294-af17-4bf1db79f351" providerId="ADAL" clId="{5E04D955-EEBA-43A9-9FC9-11845B63FA73}" dt="2025-11-11T16:32:00.945" v="178" actId="20577"/>
          <ac:spMkLst>
            <pc:docMk/>
            <pc:sldMk cId="3884049008" sldId="386"/>
            <ac:spMk id="5" creationId="{3418348A-9314-93D1-F5D4-3F0BB074C412}"/>
          </ac:spMkLst>
        </pc:spChg>
      </pc:sldChg>
      <pc:sldChg chg="del">
        <pc:chgData name="Arvind Krishna" userId="1da9ca94-ee30-4294-af17-4bf1db79f351" providerId="ADAL" clId="{5E04D955-EEBA-43A9-9FC9-11845B63FA73}" dt="2025-11-11T16:28:06.014" v="3" actId="47"/>
        <pc:sldMkLst>
          <pc:docMk/>
          <pc:sldMk cId="268254462" sldId="387"/>
        </pc:sldMkLst>
      </pc:sldChg>
      <pc:sldChg chg="del">
        <pc:chgData name="Arvind Krishna" userId="1da9ca94-ee30-4294-af17-4bf1db79f351" providerId="ADAL" clId="{5E04D955-EEBA-43A9-9FC9-11845B63FA73}" dt="2025-11-11T16:28:06.374" v="5" actId="47"/>
        <pc:sldMkLst>
          <pc:docMk/>
          <pc:sldMk cId="3442576731" sldId="388"/>
        </pc:sldMkLst>
      </pc:sldChg>
      <pc:sldChg chg="del">
        <pc:chgData name="Arvind Krishna" userId="1da9ca94-ee30-4294-af17-4bf1db79f351" providerId="ADAL" clId="{5E04D955-EEBA-43A9-9FC9-11845B63FA73}" dt="2025-11-11T16:28:06.759" v="7" actId="47"/>
        <pc:sldMkLst>
          <pc:docMk/>
          <pc:sldMk cId="3543892823" sldId="389"/>
        </pc:sldMkLst>
      </pc:sldChg>
      <pc:sldChg chg="del">
        <pc:chgData name="Arvind Krishna" userId="1da9ca94-ee30-4294-af17-4bf1db79f351" providerId="ADAL" clId="{5E04D955-EEBA-43A9-9FC9-11845B63FA73}" dt="2025-11-11T16:28:06.908" v="8" actId="47"/>
        <pc:sldMkLst>
          <pc:docMk/>
          <pc:sldMk cId="2732251373" sldId="390"/>
        </pc:sldMkLst>
      </pc:sldChg>
      <pc:sldChg chg="del">
        <pc:chgData name="Arvind Krishna" userId="1da9ca94-ee30-4294-af17-4bf1db79f351" providerId="ADAL" clId="{5E04D955-EEBA-43A9-9FC9-11845B63FA73}" dt="2025-11-11T16:28:07.039" v="9" actId="47"/>
        <pc:sldMkLst>
          <pc:docMk/>
          <pc:sldMk cId="1902018478" sldId="391"/>
        </pc:sldMkLst>
      </pc:sldChg>
      <pc:sldChg chg="del">
        <pc:chgData name="Arvind Krishna" userId="1da9ca94-ee30-4294-af17-4bf1db79f351" providerId="ADAL" clId="{5E04D955-EEBA-43A9-9FC9-11845B63FA73}" dt="2025-11-11T16:28:07.168" v="10" actId="47"/>
        <pc:sldMkLst>
          <pc:docMk/>
          <pc:sldMk cId="1706078546" sldId="392"/>
        </pc:sldMkLst>
      </pc:sldChg>
      <pc:sldChg chg="del">
        <pc:chgData name="Arvind Krishna" userId="1da9ca94-ee30-4294-af17-4bf1db79f351" providerId="ADAL" clId="{5E04D955-EEBA-43A9-9FC9-11845B63FA73}" dt="2025-11-11T16:28:08.154" v="12" actId="47"/>
        <pc:sldMkLst>
          <pc:docMk/>
          <pc:sldMk cId="1738487046" sldId="393"/>
        </pc:sldMkLst>
      </pc:sldChg>
      <pc:sldChg chg="del">
        <pc:chgData name="Arvind Krishna" userId="1da9ca94-ee30-4294-af17-4bf1db79f351" providerId="ADAL" clId="{5E04D955-EEBA-43A9-9FC9-11845B63FA73}" dt="2025-11-11T16:28:08.514" v="14" actId="47"/>
        <pc:sldMkLst>
          <pc:docMk/>
          <pc:sldMk cId="1624059784" sldId="394"/>
        </pc:sldMkLst>
      </pc:sldChg>
      <pc:sldChg chg="del">
        <pc:chgData name="Arvind Krishna" userId="1da9ca94-ee30-4294-af17-4bf1db79f351" providerId="ADAL" clId="{5E04D955-EEBA-43A9-9FC9-11845B63FA73}" dt="2025-11-11T16:28:12.842" v="21" actId="47"/>
        <pc:sldMkLst>
          <pc:docMk/>
          <pc:sldMk cId="294514060" sldId="395"/>
        </pc:sldMkLst>
      </pc:sldChg>
      <pc:sldChg chg="del">
        <pc:chgData name="Arvind Krishna" userId="1da9ca94-ee30-4294-af17-4bf1db79f351" providerId="ADAL" clId="{5E04D955-EEBA-43A9-9FC9-11845B63FA73}" dt="2025-11-11T16:28:09.011" v="15" actId="47"/>
        <pc:sldMkLst>
          <pc:docMk/>
          <pc:sldMk cId="627447057" sldId="396"/>
        </pc:sldMkLst>
      </pc:sldChg>
      <pc:sldChg chg="del ord">
        <pc:chgData name="Arvind Krishna" userId="1da9ca94-ee30-4294-af17-4bf1db79f351" providerId="ADAL" clId="{5E04D955-EEBA-43A9-9FC9-11845B63FA73}" dt="2025-11-11T16:28:17.967" v="33" actId="47"/>
        <pc:sldMkLst>
          <pc:docMk/>
          <pc:sldMk cId="1485279" sldId="397"/>
        </pc:sldMkLst>
      </pc:sldChg>
      <pc:sldChg chg="del">
        <pc:chgData name="Arvind Krishna" userId="1da9ca94-ee30-4294-af17-4bf1db79f351" providerId="ADAL" clId="{5E04D955-EEBA-43A9-9FC9-11845B63FA73}" dt="2025-11-11T16:28:09.206" v="16" actId="47"/>
        <pc:sldMkLst>
          <pc:docMk/>
          <pc:sldMk cId="140025205" sldId="398"/>
        </pc:sldMkLst>
      </pc:sldChg>
      <pc:sldChg chg="del">
        <pc:chgData name="Arvind Krishna" userId="1da9ca94-ee30-4294-af17-4bf1db79f351" providerId="ADAL" clId="{5E04D955-EEBA-43A9-9FC9-11845B63FA73}" dt="2025-11-11T16:28:08.370" v="13" actId="47"/>
        <pc:sldMkLst>
          <pc:docMk/>
          <pc:sldMk cId="208380414" sldId="399"/>
        </pc:sldMkLst>
      </pc:sldChg>
      <pc:sldChg chg="del">
        <pc:chgData name="Arvind Krishna" userId="1da9ca94-ee30-4294-af17-4bf1db79f351" providerId="ADAL" clId="{5E04D955-EEBA-43A9-9FC9-11845B63FA73}" dt="2025-11-11T16:28:09.357" v="17" actId="47"/>
        <pc:sldMkLst>
          <pc:docMk/>
          <pc:sldMk cId="1944403161" sldId="400"/>
        </pc:sldMkLst>
      </pc:sldChg>
      <pc:sldChg chg="del">
        <pc:chgData name="Arvind Krishna" userId="1da9ca94-ee30-4294-af17-4bf1db79f351" providerId="ADAL" clId="{5E04D955-EEBA-43A9-9FC9-11845B63FA73}" dt="2025-11-11T16:28:09.729" v="18" actId="47"/>
        <pc:sldMkLst>
          <pc:docMk/>
          <pc:sldMk cId="3837080214" sldId="401"/>
        </pc:sldMkLst>
      </pc:sldChg>
      <pc:sldChg chg="del">
        <pc:chgData name="Arvind Krishna" userId="1da9ca94-ee30-4294-af17-4bf1db79f351" providerId="ADAL" clId="{5E04D955-EEBA-43A9-9FC9-11845B63FA73}" dt="2025-11-11T16:28:15.419" v="32" actId="47"/>
        <pc:sldMkLst>
          <pc:docMk/>
          <pc:sldMk cId="1599570911" sldId="402"/>
        </pc:sldMkLst>
      </pc:sldChg>
      <pc:sldChg chg="del">
        <pc:chgData name="Arvind Krishna" userId="1da9ca94-ee30-4294-af17-4bf1db79f351" providerId="ADAL" clId="{5E04D955-EEBA-43A9-9FC9-11845B63FA73}" dt="2025-11-11T16:28:13.296" v="23" actId="47"/>
        <pc:sldMkLst>
          <pc:docMk/>
          <pc:sldMk cId="3653570648" sldId="403"/>
        </pc:sldMkLst>
      </pc:sldChg>
      <pc:sldChg chg="del">
        <pc:chgData name="Arvind Krishna" userId="1da9ca94-ee30-4294-af17-4bf1db79f351" providerId="ADAL" clId="{5E04D955-EEBA-43A9-9FC9-11845B63FA73}" dt="2025-11-11T16:28:15.230" v="31" actId="47"/>
        <pc:sldMkLst>
          <pc:docMk/>
          <pc:sldMk cId="2328434114" sldId="404"/>
        </pc:sldMkLst>
      </pc:sldChg>
      <pc:sldChg chg="del">
        <pc:chgData name="Arvind Krishna" userId="1da9ca94-ee30-4294-af17-4bf1db79f351" providerId="ADAL" clId="{5E04D955-EEBA-43A9-9FC9-11845B63FA73}" dt="2025-11-11T16:28:14.892" v="30" actId="47"/>
        <pc:sldMkLst>
          <pc:docMk/>
          <pc:sldMk cId="2822556530" sldId="405"/>
        </pc:sldMkLst>
      </pc:sldChg>
      <pc:sldChg chg="del">
        <pc:chgData name="Arvind Krishna" userId="1da9ca94-ee30-4294-af17-4bf1db79f351" providerId="ADAL" clId="{5E04D955-EEBA-43A9-9FC9-11845B63FA73}" dt="2025-11-11T16:28:06.533" v="6" actId="47"/>
        <pc:sldMkLst>
          <pc:docMk/>
          <pc:sldMk cId="938421073" sldId="407"/>
        </pc:sldMkLst>
      </pc:sldChg>
      <pc:sldChg chg="del">
        <pc:chgData name="Arvind Krishna" userId="1da9ca94-ee30-4294-af17-4bf1db79f351" providerId="ADAL" clId="{5E04D955-EEBA-43A9-9FC9-11845B63FA73}" dt="2025-11-11T16:28:14.489" v="28" actId="47"/>
        <pc:sldMkLst>
          <pc:docMk/>
          <pc:sldMk cId="432051518" sldId="409"/>
        </pc:sldMkLst>
      </pc:sldChg>
      <pc:sldChg chg="del">
        <pc:chgData name="Arvind Krishna" userId="1da9ca94-ee30-4294-af17-4bf1db79f351" providerId="ADAL" clId="{5E04D955-EEBA-43A9-9FC9-11845B63FA73}" dt="2025-11-11T16:28:10.120" v="19" actId="47"/>
        <pc:sldMkLst>
          <pc:docMk/>
          <pc:sldMk cId="3112436611" sldId="410"/>
        </pc:sldMkLst>
      </pc:sldChg>
      <pc:sldChg chg="del">
        <pc:chgData name="Arvind Krishna" userId="1da9ca94-ee30-4294-af17-4bf1db79f351" providerId="ADAL" clId="{5E04D955-EEBA-43A9-9FC9-11845B63FA73}" dt="2025-11-11T16:28:12.443" v="20" actId="47"/>
        <pc:sldMkLst>
          <pc:docMk/>
          <pc:sldMk cId="84817579" sldId="411"/>
        </pc:sldMkLst>
      </pc:sldChg>
      <pc:sldChg chg="del">
        <pc:chgData name="Arvind Krishna" userId="1da9ca94-ee30-4294-af17-4bf1db79f351" providerId="ADAL" clId="{5E04D955-EEBA-43A9-9FC9-11845B63FA73}" dt="2025-11-11T16:28:13.787" v="26" actId="47"/>
        <pc:sldMkLst>
          <pc:docMk/>
          <pc:sldMk cId="2121416878" sldId="412"/>
        </pc:sldMkLst>
      </pc:sldChg>
      <pc:sldChg chg="del">
        <pc:chgData name="Arvind Krishna" userId="1da9ca94-ee30-4294-af17-4bf1db79f351" providerId="ADAL" clId="{5E04D955-EEBA-43A9-9FC9-11845B63FA73}" dt="2025-11-11T16:28:14.684" v="29" actId="47"/>
        <pc:sldMkLst>
          <pc:docMk/>
          <pc:sldMk cId="3918705840" sldId="413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6D1952-4C8C-594A-8D47-CC3EBD31CD69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32E9FD-FA40-FC48-8917-175ED0BCC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20482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E82BA9-193E-D440-8A2C-9653656F2AE3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63C63D-0C1A-0E4C-A0BD-8D65A95424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70561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1B231-5950-EBDE-8196-344EED13D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F7BBFE-E5FF-5E29-AF2A-71428828EE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4160CC-C95F-A164-B283-7D5CAFD1CC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8A14CF-A9A6-536C-46FB-EF7171BD60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63C63D-0C1A-0E4C-A0BD-8D65A954242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1712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9F578-C62F-8643-7DAB-5745DF86A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54C94A-9668-43A8-6D57-C6E6C2F89E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66D198-7D7C-3C7C-D140-0A4CBDDAD6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9E01F6-42F3-EA48-0D5C-2C4920B351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63C63D-0C1A-0E4C-A0BD-8D65A954242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173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34CFF-E67C-D229-57E4-1465B723F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0B1227-4A20-E88B-5D84-4A9E2F8512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D1394C-547B-EE6F-7CB7-172E234FF3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B09124-1DFB-FB35-6699-DE7E35F28D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63C63D-0C1A-0E4C-A0BD-8D65A954242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7680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AD0D8-5F06-F69C-B793-39EC326DA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1FC5B-F283-CE53-B434-D8068B56AC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C5C20D-C267-198F-8B2F-5C8989954C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A04458-51A8-EF24-84D9-ADA621801B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63C63D-0C1A-0E4C-A0BD-8D65A954242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4553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AB74B-5A2B-77B0-41AF-E8FC35CC5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6AF5EE-A37F-04F2-ADC3-5AA65AC52B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775A95-4668-A652-DBF8-89E13F3EFD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563EB0-055F-25E1-CE3E-B2385EBE75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63C63D-0C1A-0E4C-A0BD-8D65A954242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3236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parator Page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0" y="1542060"/>
            <a:ext cx="9144000" cy="2054160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Arial"/>
              </a:defRPr>
            </a:lvl1pPr>
          </a:lstStyle>
          <a:p>
            <a:r>
              <a:rPr lang="en-US" dirty="0"/>
              <a:t>Separator</a:t>
            </a:r>
          </a:p>
        </p:txBody>
      </p:sp>
      <p:pic>
        <p:nvPicPr>
          <p:cNvPr id="3" name="Picture 2" descr="NWU PPT Wide Opt 3_Separator.jp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Box 3"/>
          <p:cNvSpPr txBox="1"/>
          <p:nvPr userDrawn="1"/>
        </p:nvSpPr>
        <p:spPr>
          <a:xfrm>
            <a:off x="9469120" y="2692400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17737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D3421027-4EC0-9C48-8CFB-B8A3104CB056}" type="datetime1">
              <a:rPr lang="en-US" smtClean="0"/>
              <a:pPr/>
              <a:t>11/18/2025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106E12CD-FCB1-464E-A775-0B83FDDACE0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2003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>
                <a:latin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FC7990E-B991-4093-83B3-A18ADEE8B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8C176C-065F-124D-AAA4-94F2B7A2EC7C}" type="datetime1">
              <a:rPr lang="en-US" smtClean="0"/>
              <a:t>11/18/2025</a:t>
            </a:fld>
            <a:endParaRPr lang="en-US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3155C06B-129A-45E0-9FC4-C876AA7D4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DD8689AB-F3DD-431A-8DEB-DF172B74A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E12CD-FCB1-464E-A775-0B83FDDACE0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14084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>
                <a:latin typeface="Arial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800">
                <a:latin typeface="Arial"/>
              </a:defRPr>
            </a:lvl1pPr>
            <a:lvl2pPr>
              <a:defRPr sz="2400">
                <a:latin typeface="Arial"/>
              </a:defRPr>
            </a:lvl2pPr>
            <a:lvl3pPr>
              <a:defRPr sz="2000">
                <a:latin typeface="Arial"/>
              </a:defRPr>
            </a:lvl3pPr>
            <a:lvl4pPr>
              <a:defRPr sz="1800">
                <a:latin typeface="Arial"/>
              </a:defRPr>
            </a:lvl4pPr>
            <a:lvl5pPr>
              <a:defRPr sz="1800">
                <a:latin typeface="Arial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B9AB8213-A564-3C44-8CA0-968996562138}" type="datetime1">
              <a:rPr lang="en-US" smtClean="0"/>
              <a:pPr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106E12CD-FCB1-464E-A775-0B83FDDACE0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566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3200" b="1" cap="all">
                <a:latin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0A83DA12-03A5-114A-ABAE-78CD6BB6AC19}" type="datetime1">
              <a:rPr lang="en-US" smtClean="0"/>
              <a:pPr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106E12CD-FCB1-464E-A775-0B83FDDACE0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636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>
                <a:latin typeface="Arial"/>
              </a:defRPr>
            </a:lvl1pPr>
            <a:lvl2pPr>
              <a:defRPr sz="2400">
                <a:latin typeface="Arial"/>
              </a:defRPr>
            </a:lvl2pPr>
            <a:lvl3pPr>
              <a:defRPr sz="2000">
                <a:latin typeface="Arial"/>
              </a:defRPr>
            </a:lvl3pPr>
            <a:lvl4pPr>
              <a:defRPr sz="1800">
                <a:latin typeface="Arial"/>
              </a:defRPr>
            </a:lvl4pPr>
            <a:lvl5pPr>
              <a:defRPr sz="1800">
                <a:latin typeface="Arial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>
                <a:latin typeface="Arial"/>
              </a:defRPr>
            </a:lvl1pPr>
            <a:lvl2pPr>
              <a:defRPr sz="2400">
                <a:latin typeface="Arial"/>
              </a:defRPr>
            </a:lvl2pPr>
            <a:lvl3pPr>
              <a:defRPr sz="2000">
                <a:latin typeface="Arial"/>
              </a:defRPr>
            </a:lvl3pPr>
            <a:lvl4pPr>
              <a:defRPr sz="1800">
                <a:latin typeface="Arial"/>
              </a:defRPr>
            </a:lvl4pPr>
            <a:lvl5pPr>
              <a:defRPr sz="1800">
                <a:latin typeface="Arial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1FFF386F-14E4-954A-9EC2-E277FFD66D49}" type="datetime1">
              <a:rPr lang="en-US" smtClean="0"/>
              <a:pPr/>
              <a:t>11/18/2025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106E12CD-FCB1-464E-A775-0B83FDDACE0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7278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2000" b="1">
                <a:latin typeface="Arial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>
                <a:latin typeface="Arial"/>
              </a:defRPr>
            </a:lvl1pPr>
            <a:lvl2pPr>
              <a:defRPr sz="2000">
                <a:latin typeface="Arial"/>
              </a:defRPr>
            </a:lvl2pPr>
            <a:lvl3pPr>
              <a:defRPr sz="1800">
                <a:latin typeface="Arial"/>
              </a:defRPr>
            </a:lvl3pPr>
            <a:lvl4pPr>
              <a:defRPr sz="1600">
                <a:latin typeface="Arial"/>
              </a:defRPr>
            </a:lvl4pPr>
            <a:lvl5pPr>
              <a:defRPr sz="1600">
                <a:latin typeface="Arial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2000" b="1">
                <a:latin typeface="Arial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>
                <a:latin typeface="Arial"/>
              </a:defRPr>
            </a:lvl1pPr>
            <a:lvl2pPr>
              <a:defRPr sz="2000">
                <a:latin typeface="Arial"/>
              </a:defRPr>
            </a:lvl2pPr>
            <a:lvl3pPr>
              <a:defRPr sz="1800">
                <a:latin typeface="Arial"/>
              </a:defRPr>
            </a:lvl3pPr>
            <a:lvl4pPr>
              <a:defRPr sz="1600">
                <a:latin typeface="Arial"/>
              </a:defRPr>
            </a:lvl4pPr>
            <a:lvl5pPr>
              <a:defRPr sz="1600">
                <a:latin typeface="Arial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D8FFCF06-3344-8345-BEA6-DDAEFCC6ECCE}" type="datetime1">
              <a:rPr lang="en-US" smtClean="0"/>
              <a:pPr/>
              <a:t>11/18/2025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106E12CD-FCB1-464E-A775-0B83FDDACE0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770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84C6D879-35D4-554E-9D6D-93E8130AA922}" type="datetime1">
              <a:rPr lang="en-US" smtClean="0"/>
              <a:pPr/>
              <a:t>11/18/2025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106E12CD-FCB1-464E-A775-0B83FDDACE0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208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>
                <a:latin typeface="Arial"/>
              </a:defRPr>
            </a:lvl1pPr>
            <a:lvl2pPr>
              <a:defRPr sz="2800">
                <a:latin typeface="Arial"/>
              </a:defRPr>
            </a:lvl2pPr>
            <a:lvl3pPr>
              <a:defRPr sz="2400">
                <a:latin typeface="Arial"/>
              </a:defRPr>
            </a:lvl3pPr>
            <a:lvl4pPr>
              <a:defRPr sz="2000">
                <a:latin typeface="Arial"/>
              </a:defRPr>
            </a:lvl4pPr>
            <a:lvl5pPr>
              <a:defRPr sz="2000">
                <a:latin typeface="Arial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>
                <a:latin typeface="Arial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AB182AE3-760A-8E44-AB65-03A533386DFC}" type="datetime1">
              <a:rPr lang="en-US" smtClean="0"/>
              <a:pPr/>
              <a:t>11/18/2025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106E12CD-FCB1-464E-A775-0B83FDDACE0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2467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>
                <a:latin typeface="Arial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>
                <a:latin typeface="Arial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B362BA78-8688-C546-A03A-2A39F84C0B58}" type="datetime1">
              <a:rPr lang="en-US" smtClean="0"/>
              <a:pPr/>
              <a:t>11/18/2025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106E12CD-FCB1-464E-A775-0B83FDDACE0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2783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Arial"/>
              </a:defRPr>
            </a:lvl1pPr>
            <a:lvl2pPr>
              <a:defRPr>
                <a:latin typeface="Arial"/>
              </a:defRPr>
            </a:lvl2pPr>
            <a:lvl3pPr>
              <a:defRPr>
                <a:latin typeface="Arial"/>
              </a:defRPr>
            </a:lvl3pPr>
            <a:lvl4pPr>
              <a:defRPr>
                <a:latin typeface="Arial"/>
              </a:defRPr>
            </a:lvl4pPr>
            <a:lvl5pPr>
              <a:defRPr>
                <a:latin typeface="Arial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EF5B9135-15EF-DE46-84CC-16626B0FAF7F}" type="datetime1">
              <a:rPr lang="en-US" smtClean="0"/>
              <a:pPr/>
              <a:t>11/18/2025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106E12CD-FCB1-464E-A775-0B83FDDACE0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Box 6"/>
          <p:cNvSpPr txBox="1"/>
          <p:nvPr userDrawn="1"/>
        </p:nvSpPr>
        <p:spPr>
          <a:xfrm>
            <a:off x="3136197" y="-304560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0293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>
            <a:lvl1pPr>
              <a:defRPr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>
            <a:lvl1pPr>
              <a:defRPr>
                <a:latin typeface="Arial"/>
              </a:defRPr>
            </a:lvl1pPr>
            <a:lvl2pPr>
              <a:defRPr>
                <a:latin typeface="Arial"/>
              </a:defRPr>
            </a:lvl2pPr>
            <a:lvl3pPr>
              <a:defRPr>
                <a:latin typeface="Arial"/>
              </a:defRPr>
            </a:lvl3pPr>
            <a:lvl4pPr>
              <a:defRPr>
                <a:latin typeface="Arial"/>
              </a:defRPr>
            </a:lvl4pPr>
            <a:lvl5pPr>
              <a:defRPr>
                <a:latin typeface="Arial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77ADD-011F-3541-9724-9C7FC92455D5}" type="datetime1">
              <a:rPr lang="en-US" smtClean="0"/>
              <a:t>11/18/2025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106E12CD-FCB1-464E-A775-0B83FDDACE0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232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A818A64-FA37-402B-88D1-DC1589E64332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0"/>
            <a:ext cx="9141291" cy="51435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79450" y="4788298"/>
            <a:ext cx="1511300" cy="1158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8C176C-065F-124D-AAA4-94F2B7A2EC7C}" type="datetime1">
              <a:rPr lang="en-US" smtClean="0"/>
              <a:t>11/18/2025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rgbClr val="FFFFFF"/>
                </a:solidFill>
                <a:latin typeface="Arial"/>
                <a:cs typeface="Arial"/>
              </a:defRPr>
            </a:lvl1pPr>
          </a:lstStyle>
          <a:p>
            <a:fld id="{106E12CD-FCB1-464E-A775-0B83FDDACE0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Box 7"/>
          <p:cNvSpPr txBox="1"/>
          <p:nvPr userDrawn="1"/>
        </p:nvSpPr>
        <p:spPr>
          <a:xfrm>
            <a:off x="9428480" y="3403600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4960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55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cture containing shape&#10;&#10;Description automatically generated">
            <a:extLst>
              <a:ext uri="{FF2B5EF4-FFF2-40B4-BE49-F238E27FC236}">
                <a16:creationId xmlns:a16="http://schemas.microsoft.com/office/drawing/2014/main" id="{65D21C53-F609-450B-9FB4-BBCCBC34A0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4" y="0"/>
            <a:ext cx="9141291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720" y="1308172"/>
            <a:ext cx="8463281" cy="79589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STAT390: Data science project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722" y="2760439"/>
            <a:ext cx="8463280" cy="948879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rgbClr val="FFFFFF"/>
                </a:solidFill>
              </a:rPr>
              <a:t>Project 1: CMIL Classification</a:t>
            </a:r>
          </a:p>
          <a:p>
            <a:r>
              <a:rPr lang="en-US" sz="2000" dirty="0">
                <a:solidFill>
                  <a:srgbClr val="FFFFFF"/>
                </a:solidFill>
              </a:rPr>
              <a:t>Post modeling analysis / next steps</a:t>
            </a:r>
          </a:p>
        </p:txBody>
      </p:sp>
    </p:spTree>
    <p:extLst>
      <p:ext uri="{BB962C8B-B14F-4D97-AF65-F5344CB8AC3E}">
        <p14:creationId xmlns:p14="http://schemas.microsoft.com/office/powerpoint/2010/main" val="4154333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D87BC-02FD-8B6B-01F0-78E2309A7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2A097A-7649-A838-D8F3-9381B8603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E12CD-FCB1-464E-A775-0B83FDDACE03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18348A-9314-93D1-F5D4-3F0BB074C4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0677" y="223723"/>
            <a:ext cx="7772400" cy="808701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Post modeling analysis / next steps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622887-79AC-5960-96E8-C8DFCD593635}"/>
              </a:ext>
            </a:extLst>
          </p:cNvPr>
          <p:cNvSpPr txBox="1"/>
          <p:nvPr/>
        </p:nvSpPr>
        <p:spPr>
          <a:xfrm>
            <a:off x="491127" y="1109731"/>
            <a:ext cx="8116511" cy="37315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ts val="2200"/>
              </a:lnSpc>
              <a:buAutoNum type="arabicPeriod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Try different sets of train, test, and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val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identify hard to classify cases</a:t>
            </a:r>
          </a:p>
          <a:p>
            <a:pPr marL="342900" indent="-342900" algn="just">
              <a:lnSpc>
                <a:spcPts val="2200"/>
              </a:lnSpc>
              <a:buAutoNum type="arabicPeriod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Filter patches based on size - low attention patches seem to be of lower size - plot patch size vs attention, iterative procedure to remove patches? We can get more patches of the preferred size if necessary</a:t>
            </a:r>
          </a:p>
          <a:p>
            <a:pPr marL="342900" indent="-342900" algn="just">
              <a:lnSpc>
                <a:spcPts val="2200"/>
              </a:lnSpc>
              <a:buAutoNum type="arabicPeriod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Patches of the same size with stroma replaced by white space - has there been any research with patches of different sizes? Will miss patches of very large size - spanning across large epithelium widths</a:t>
            </a:r>
          </a:p>
          <a:p>
            <a:pPr marL="342900" indent="-342900" algn="just">
              <a:lnSpc>
                <a:spcPts val="2200"/>
              </a:lnSpc>
              <a:buAutoNum type="arabicPeriod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Oversampling minority class,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undersampling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majority class - reduce class imbalance</a:t>
            </a:r>
          </a:p>
          <a:p>
            <a:pPr marL="342900" indent="-342900" algn="just">
              <a:lnSpc>
                <a:spcPts val="2200"/>
              </a:lnSpc>
              <a:buAutoNum type="arabicPeriod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Hierarchical attention used in literature? Effect of too many tiers in hierarchy on performance</a:t>
            </a:r>
          </a:p>
          <a:p>
            <a:pPr marL="342900" indent="-342900" algn="just">
              <a:lnSpc>
                <a:spcPts val="2200"/>
              </a:lnSpc>
              <a:buAutoNum type="arabicPeriod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Transformation code?</a:t>
            </a:r>
          </a:p>
          <a:p>
            <a:pPr marL="342900" indent="-342900" algn="just">
              <a:lnSpc>
                <a:spcPts val="2200"/>
              </a:lnSpc>
              <a:buAutoNum type="arabicPeriod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the accuracy of cases where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melan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stain had the highest attention?</a:t>
            </a:r>
          </a:p>
          <a:p>
            <a:pPr marL="342900" indent="-342900" algn="just">
              <a:lnSpc>
                <a:spcPts val="2200"/>
              </a:lnSpc>
              <a:buAutoNum type="arabicPeriod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Slide 12: What does it mean when patch attention is higher in Sox10, but stain attention is higher in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h&amp;e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  <a:p>
            <a:pPr marL="342900" indent="-342900" algn="just">
              <a:lnSpc>
                <a:spcPts val="2200"/>
              </a:lnSpc>
              <a:buAutoNum type="arabicPeriod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More complex attention, non linear layer before last layer, batch norm tuning, regularization (but underfitting?)</a:t>
            </a:r>
          </a:p>
          <a:p>
            <a:pPr marL="342900" indent="-342900" algn="just">
              <a:lnSpc>
                <a:spcPts val="2200"/>
              </a:lnSpc>
              <a:buAutoNum type="arabicPeriod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base model (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Kimianet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resnet50,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Coatnet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EfficientNetb3, etc.)</a:t>
            </a:r>
          </a:p>
        </p:txBody>
      </p:sp>
    </p:spTree>
    <p:extLst>
      <p:ext uri="{BB962C8B-B14F-4D97-AF65-F5344CB8AC3E}">
        <p14:creationId xmlns:p14="http://schemas.microsoft.com/office/powerpoint/2010/main" val="3884049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925A8-9638-1943-85C4-61632CF6C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38C729-6A63-3A2B-FD30-7E6EBD58C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E12CD-FCB1-464E-A775-0B83FDDACE03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191E5B4-AD9C-5E96-C974-35044A65DF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0677" y="223723"/>
            <a:ext cx="7772400" cy="808701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Post modeling analysis / next steps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89675A9-3195-FF3C-BAB2-21700AB9A795}"/>
              </a:ext>
            </a:extLst>
          </p:cNvPr>
          <p:cNvSpPr txBox="1"/>
          <p:nvPr/>
        </p:nvSpPr>
        <p:spPr>
          <a:xfrm>
            <a:off x="491127" y="1109731"/>
            <a:ext cx="8116511" cy="3398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ts val="2000"/>
              </a:lnSpc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 per slice cap of 500? - check</a:t>
            </a:r>
          </a:p>
          <a:p>
            <a:pPr marL="342900" indent="-342900" algn="just">
              <a:lnSpc>
                <a:spcPts val="2000"/>
              </a:lnSpc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Attention top n 8?</a:t>
            </a:r>
          </a:p>
          <a:p>
            <a:pPr marL="342900" indent="-342900" algn="just">
              <a:lnSpc>
                <a:spcPts val="2000"/>
              </a:lnSpc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Max slices per stain = 5? - check</a:t>
            </a:r>
          </a:p>
          <a:p>
            <a:pPr marL="342900" indent="-342900" algn="just">
              <a:lnSpc>
                <a:spcPts val="2000"/>
              </a:lnSpc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Remove low attention patches, after every ‘n’ epochs</a:t>
            </a:r>
          </a:p>
          <a:p>
            <a:pPr marL="342900" indent="-342900" algn="just">
              <a:lnSpc>
                <a:spcPts val="2000"/>
              </a:lnSpc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Attention for patches is calculated for slice level, then why are there only sox10 patches with low attention?</a:t>
            </a:r>
          </a:p>
          <a:p>
            <a:pPr marL="342900" indent="-342900" algn="just">
              <a:lnSpc>
                <a:spcPts val="2000"/>
              </a:lnSpc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Plot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patch_size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vs attention</a:t>
            </a:r>
          </a:p>
          <a:p>
            <a:pPr marL="342900" indent="-342900" algn="just">
              <a:lnSpc>
                <a:spcPts val="2000"/>
              </a:lnSpc>
              <a:buAutoNum type="arabicPeriod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regions of high attention 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possible with the patch suffix, are they spread out, or spread across the slice – plotting attention vs patch suffix</a:t>
            </a:r>
          </a:p>
          <a:p>
            <a:pPr marL="342900" indent="-342900" algn="just">
              <a:lnSpc>
                <a:spcPts val="2000"/>
              </a:lnSpc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Five test datasets needed to test all benign cases at least once – get the best possible and worst possible recall</a:t>
            </a:r>
          </a:p>
          <a:p>
            <a:pPr marL="342900" indent="-342900" algn="just">
              <a:lnSpc>
                <a:spcPts val="2000"/>
              </a:lnSpc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Remove case 91 from training</a:t>
            </a:r>
          </a:p>
          <a:p>
            <a:pPr marL="342900" indent="-342900" algn="just">
              <a:lnSpc>
                <a:spcPts val="2000"/>
              </a:lnSpc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Increase learning rate further, until a minimum is found – with scheduler?</a:t>
            </a:r>
          </a:p>
          <a:p>
            <a:pPr marL="342900" indent="-342900" algn="just">
              <a:lnSpc>
                <a:spcPts val="2000"/>
              </a:lnSpc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ROC-AUC can be misleading</a:t>
            </a:r>
          </a:p>
          <a:p>
            <a:pPr marL="342900" indent="-342900" algn="just">
              <a:lnSpc>
                <a:spcPts val="2000"/>
              </a:lnSpc>
              <a:buAutoNum type="arabicPeriod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 if we have goblet cells in training data</a:t>
            </a:r>
          </a:p>
        </p:txBody>
      </p:sp>
    </p:spTree>
    <p:extLst>
      <p:ext uri="{BB962C8B-B14F-4D97-AF65-F5344CB8AC3E}">
        <p14:creationId xmlns:p14="http://schemas.microsoft.com/office/powerpoint/2010/main" val="197347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0DC4F-E722-8E6B-B832-0BFFBB421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1D867C-9FE0-28CD-EFE2-3E70A4470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E12CD-FCB1-464E-A775-0B83FDDACE03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0E249B8-AAE7-6D96-0E0C-FD4E7A132A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0677" y="223723"/>
            <a:ext cx="7772400" cy="808701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Post modeling analysis / next steps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E8A1050-9E27-A34E-84E0-8173E9AB6DAD}"/>
              </a:ext>
            </a:extLst>
          </p:cNvPr>
          <p:cNvSpPr txBox="1"/>
          <p:nvPr/>
        </p:nvSpPr>
        <p:spPr>
          <a:xfrm>
            <a:off x="491127" y="1109731"/>
            <a:ext cx="8116511" cy="3654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ts val="2000"/>
              </a:lnSpc>
              <a:buAutoNum type="arabicPeriod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Attention collapse: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Softmax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function peaks the attention score, particularly when done repeatedly – calculate effective patch attention by multiplying attention at the 3 levels</a:t>
            </a:r>
          </a:p>
          <a:p>
            <a:pPr marL="342900" indent="-342900" algn="just">
              <a:lnSpc>
                <a:spcPts val="2000"/>
              </a:lnSpc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Fixes of attention collapse:</a:t>
            </a:r>
          </a:p>
          <a:p>
            <a:pPr marL="800100" lvl="1" indent="-342900" algn="just">
              <a:lnSpc>
                <a:spcPts val="2000"/>
              </a:lnSpc>
              <a:buAutoNum type="arabicPeriod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Attention regularization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add penalty on attention score in the loss function – use elastic net (L1 for sparsity – get rid of unimportant patches, and L2 to keep scores low – avoid too much skewness in attention score distribution)</a:t>
            </a:r>
          </a:p>
          <a:p>
            <a:pPr marL="800100" lvl="1" indent="-342900" algn="just">
              <a:lnSpc>
                <a:spcPts val="2000"/>
              </a:lnSpc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Attention normalization</a:t>
            </a:r>
          </a:p>
          <a:p>
            <a:pPr marL="800100" lvl="1" indent="-342900" algn="just">
              <a:lnSpc>
                <a:spcPts val="2000"/>
              </a:lnSpc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Hierarchical transformer – transformer can aggregate across hierarchical units more robustly</a:t>
            </a:r>
          </a:p>
          <a:p>
            <a:pPr marL="800100" lvl="1" indent="-342900" algn="just">
              <a:lnSpc>
                <a:spcPts val="2000"/>
              </a:lnSpc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Gated attention</a:t>
            </a:r>
          </a:p>
          <a:p>
            <a:pPr marL="342900" indent="-342900" algn="just">
              <a:lnSpc>
                <a:spcPts val="2000"/>
              </a:lnSpc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 stain performance separately</a:t>
            </a:r>
          </a:p>
          <a:p>
            <a:pPr marL="342900" indent="-342900" algn="just">
              <a:lnSpc>
                <a:spcPts val="2000"/>
              </a:lnSpc>
              <a:buAutoNum type="arabicPeriod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Find the effective attention score of each patch by multiplying the patch attention with the corresponding slice attention and the stain attention</a:t>
            </a:r>
          </a:p>
          <a:p>
            <a:pPr marL="342900" indent="-342900" algn="just">
              <a:lnSpc>
                <a:spcPts val="2000"/>
              </a:lnSpc>
              <a:buAutoNum type="arabicPeriod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</a:t>
            </a:r>
            <a:r>
              <a:rPr lang="en-US" sz="1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h&amp;e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patches have more or less similar attention scores, give more importance to </a:t>
            </a:r>
            <a:r>
              <a:rPr lang="en-US" sz="1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h&amp;e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else give more importance to </a:t>
            </a:r>
            <a:r>
              <a:rPr lang="en-US" sz="1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melan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-a and sox10 – using </a:t>
            </a:r>
            <a:r>
              <a:rPr lang="en-US" sz="1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h&amp;e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suspicion, and then using </a:t>
            </a:r>
            <a:r>
              <a:rPr lang="en-US" sz="1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melan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-a and sox10portance  for evidence</a:t>
            </a:r>
          </a:p>
          <a:p>
            <a:pPr marL="342900" indent="-342900" algn="just">
              <a:lnSpc>
                <a:spcPts val="2000"/>
              </a:lnSpc>
              <a:buAutoNum type="arabicPeriod"/>
            </a:pP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2402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C18F0-2442-D348-4938-8FD998C00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D049D-62BD-7BB9-BAE8-401262649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E12CD-FCB1-464E-A775-0B83FDDACE03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525071D-E3DD-5375-6CBC-647C8C74BA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0677" y="223723"/>
            <a:ext cx="7772400" cy="808701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Stakeholder comments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938F5C-F430-DD3A-B80A-4AEAB41B227F}"/>
              </a:ext>
            </a:extLst>
          </p:cNvPr>
          <p:cNvSpPr txBox="1"/>
          <p:nvPr/>
        </p:nvSpPr>
        <p:spPr>
          <a:xfrm>
            <a:off x="491127" y="1109731"/>
            <a:ext cx="8116511" cy="3398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ts val="2000"/>
              </a:lnSpc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a) Melan-A: </a:t>
            </a:r>
          </a:p>
          <a:p>
            <a:pPr marL="800100" lvl="1" indent="-342900" algn="just">
              <a:lnSpc>
                <a:spcPts val="2000"/>
              </a:lnSpc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shows 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architectural features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i.e., the distribution of melanocytes across the width of the epithelium</a:t>
            </a:r>
          </a:p>
          <a:p>
            <a:pPr marL="800100" lvl="1" indent="-342900" algn="just">
              <a:lnSpc>
                <a:spcPts val="2000"/>
              </a:lnSpc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grade features are easy to see</a:t>
            </a:r>
          </a:p>
          <a:p>
            <a:pPr marL="800100" lvl="1" indent="-342900" algn="just">
              <a:lnSpc>
                <a:spcPts val="2000"/>
              </a:lnSpc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is relatively robust as compared to other stains</a:t>
            </a:r>
          </a:p>
          <a:p>
            <a:pPr algn="just">
              <a:lnSpc>
                <a:spcPts val="2000"/>
              </a:lnSpc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b) Sox10: </a:t>
            </a:r>
          </a:p>
          <a:p>
            <a:pPr marL="800100" lvl="1" indent="-342900" algn="just">
              <a:lnSpc>
                <a:spcPts val="2000"/>
              </a:lnSpc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shows both architectural features, and cytological features, i.e., shape and size of melanocytes</a:t>
            </a:r>
          </a:p>
          <a:p>
            <a:pPr marL="800100" lvl="1" indent="-342900" algn="just">
              <a:lnSpc>
                <a:spcPts val="2000"/>
              </a:lnSpc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Sox10 shows the layer in which we observe the melanocytes</a:t>
            </a:r>
          </a:p>
          <a:p>
            <a:pPr algn="just">
              <a:lnSpc>
                <a:spcPts val="2000"/>
              </a:lnSpc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c) H&amp;E</a:t>
            </a:r>
          </a:p>
          <a:p>
            <a:pPr marL="800100" lvl="1" indent="-342900" algn="just">
              <a:lnSpc>
                <a:spcPts val="2000"/>
              </a:lnSpc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addition to the features shown by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melan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-A and sox10, H&amp;E shows relationship with other cells</a:t>
            </a:r>
          </a:p>
          <a:p>
            <a:pPr marL="800100" lvl="1" indent="-342900" algn="just">
              <a:lnSpc>
                <a:spcPts val="2000"/>
              </a:lnSpc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is the first stain that pathologists see to identify if there is any suspicion (of high-grade). In case of suspicion, they check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melan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-a and sox10 for evidence</a:t>
            </a:r>
          </a:p>
          <a:p>
            <a:pPr algn="just">
              <a:lnSpc>
                <a:spcPts val="2000"/>
              </a:lnSpc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3 stains are more or less equally important, like steering wheel, engine, and transmission are important to drive a car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ts val="2000"/>
              </a:lnSpc>
              <a:buAutoNum type="arabicPeriod"/>
            </a:pP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3755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41D46-4706-31CA-216F-CDCE9CDF1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A9C203-ED71-343B-8D7E-27FCD744D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E12CD-FCB1-464E-A775-0B83FDDACE03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0D87F67-094D-22A9-CA86-F3A65EF4C0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0677" y="223723"/>
            <a:ext cx="7772400" cy="808701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Stakeholder comments: Hard-to-classify-benign cases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E6FE0B-81B1-DC80-AEE8-F551E88414A4}"/>
              </a:ext>
            </a:extLst>
          </p:cNvPr>
          <p:cNvSpPr txBox="1"/>
          <p:nvPr/>
        </p:nvSpPr>
        <p:spPr>
          <a:xfrm>
            <a:off x="491127" y="1109731"/>
            <a:ext cx="8116511" cy="31420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ts val="2000"/>
              </a:lnSpc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a) Case 46</a:t>
            </a:r>
          </a:p>
          <a:p>
            <a:pPr marL="800100" lvl="1" indent="-342900" algn="just">
              <a:lnSpc>
                <a:spcPts val="2000"/>
              </a:lnSpc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pale purple cells are goblet cells (google to see). </a:t>
            </a:r>
          </a:p>
          <a:p>
            <a:pPr marL="800100" lvl="1" indent="-342900" algn="just">
              <a:lnSpc>
                <a:spcPts val="2000"/>
              </a:lnSpc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They are expected in benign cases, and the model should be trained on them</a:t>
            </a:r>
          </a:p>
          <a:p>
            <a:pPr marL="800100" lvl="1" indent="-342900" algn="just">
              <a:lnSpc>
                <a:spcPts val="2000"/>
              </a:lnSpc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 if you see goblet cells in training data</a:t>
            </a:r>
          </a:p>
          <a:p>
            <a:pPr algn="just">
              <a:lnSpc>
                <a:spcPts val="2000"/>
              </a:lnSpc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b) Case 79</a:t>
            </a:r>
          </a:p>
          <a:p>
            <a:pPr marL="800100" lvl="1" indent="-342900" algn="just">
              <a:lnSpc>
                <a:spcPts val="2000"/>
              </a:lnSpc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top part of the epithelium is indeed difficult to classify</a:t>
            </a:r>
          </a:p>
          <a:p>
            <a:pPr marL="800100" lvl="1" indent="-342900" algn="just">
              <a:lnSpc>
                <a:spcPts val="2000"/>
              </a:lnSpc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inexperienced ophthalmic pathologist may make a mistake and classify this is high-grade or low-grade if they see only H&amp;E</a:t>
            </a:r>
          </a:p>
          <a:p>
            <a:pPr marL="800100" lvl="1" indent="-342900" algn="just">
              <a:lnSpc>
                <a:spcPts val="2000"/>
              </a:lnSpc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experienced pathologist will see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melan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-a and sox10 in this case</a:t>
            </a:r>
          </a:p>
          <a:p>
            <a:pPr marL="800100" lvl="1" indent="-342900" algn="just">
              <a:lnSpc>
                <a:spcPts val="2000"/>
              </a:lnSpc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cells that you see are keratinocytes – they can look bigger and more pink, similar to high-grade. </a:t>
            </a:r>
          </a:p>
          <a:p>
            <a:pPr marL="800100" lvl="1" indent="-342900" algn="just">
              <a:lnSpc>
                <a:spcPts val="2000"/>
              </a:lnSpc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should see more immune (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melan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-a and sox10) to confirm suspicion</a:t>
            </a:r>
          </a:p>
          <a:p>
            <a:pPr algn="just">
              <a:lnSpc>
                <a:spcPts val="2000"/>
              </a:lnSpc>
            </a:pP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1124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3 Traditional Purple with White - Widescreen - Weinberg College" id="{809EFC10-DA25-4E1C-9B5D-C469531FFC25}" vid="{337FE359-31D3-444A-8F80-790C381A074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Lecture 1_Introduction</Template>
  <TotalTime>22079</TotalTime>
  <Words>817</Words>
  <Application>Microsoft Office PowerPoint</Application>
  <PresentationFormat>On-screen Show (16:9)</PresentationFormat>
  <Paragraphs>70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Times New Roman</vt:lpstr>
      <vt:lpstr>Office Theme</vt:lpstr>
      <vt:lpstr>STAT390: Data science project</vt:lpstr>
      <vt:lpstr>Post modeling analysis / next steps</vt:lpstr>
      <vt:lpstr>Post modeling analysis / next steps</vt:lpstr>
      <vt:lpstr>Post modeling analysis / next steps</vt:lpstr>
      <vt:lpstr>Stakeholder comments</vt:lpstr>
      <vt:lpstr>Stakeholder comments: Hard-to-classify-benign cases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 303-1: Data Science 1 with Python</dc:title>
  <dc:creator>Arvind Krishna</dc:creator>
  <cp:lastModifiedBy>Arvind Krishna</cp:lastModifiedBy>
  <cp:revision>382</cp:revision>
  <dcterms:created xsi:type="dcterms:W3CDTF">2021-09-16T19:30:00Z</dcterms:created>
  <dcterms:modified xsi:type="dcterms:W3CDTF">2025-11-18T22:14:00Z</dcterms:modified>
</cp:coreProperties>
</file>